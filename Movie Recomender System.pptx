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59" r:id="rId7"/>
    <p:sldId id="261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4D32-4629-4A85-97AD-E27F565E2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Movie Recommendation System</a:t>
            </a:r>
            <a:endParaRPr lang="en-CA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3B8FC-AB28-4544-8C76-110769C533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Faizan Ali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8453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76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77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8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9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0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1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2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3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4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5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6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7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8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9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0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1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2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3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4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5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6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7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8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9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0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1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2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3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4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5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6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7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7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8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9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0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1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2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3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4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5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6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331" name="Rectangle 330">
            <a:extLst>
              <a:ext uri="{FF2B5EF4-FFF2-40B4-BE49-F238E27FC236}">
                <a16:creationId xmlns:a16="http://schemas.microsoft.com/office/drawing/2014/main" id="{2F0EACBB-AB1D-4D11-AE26-0A672B872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DEE0B57-C901-4422-9C96-B0E1A0D4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305051" cy="6858001"/>
            <a:chOff x="0" y="0"/>
            <a:chExt cx="2305051" cy="6858001"/>
          </a:xfrm>
          <a:solidFill>
            <a:schemeClr val="tx1">
              <a:alpha val="15000"/>
            </a:schemeClr>
          </a:solidFill>
          <a:effectLst/>
        </p:grpSpPr>
        <p:sp>
          <p:nvSpPr>
            <p:cNvPr id="334" name="Rectangle 5">
              <a:extLst>
                <a:ext uri="{FF2B5EF4-FFF2-40B4-BE49-F238E27FC236}">
                  <a16:creationId xmlns:a16="http://schemas.microsoft.com/office/drawing/2014/main" id="{DFB7752C-355B-405A-9E36-8A24B1C80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35" name="Freeform 6">
              <a:extLst>
                <a:ext uri="{FF2B5EF4-FFF2-40B4-BE49-F238E27FC236}">
                  <a16:creationId xmlns:a16="http://schemas.microsoft.com/office/drawing/2014/main" id="{D443A052-8BBA-4E89-8E02-7C0E57932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Freeform 7">
              <a:extLst>
                <a:ext uri="{FF2B5EF4-FFF2-40B4-BE49-F238E27FC236}">
                  <a16:creationId xmlns:a16="http://schemas.microsoft.com/office/drawing/2014/main" id="{D84E76D0-F1AA-43A3-AF16-FC0C11A8B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7" name="Rectangle 8">
              <a:extLst>
                <a:ext uri="{FF2B5EF4-FFF2-40B4-BE49-F238E27FC236}">
                  <a16:creationId xmlns:a16="http://schemas.microsoft.com/office/drawing/2014/main" id="{9734AB48-FF75-47D2-A2D4-813E3668D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38" name="Freeform 9">
              <a:extLst>
                <a:ext uri="{FF2B5EF4-FFF2-40B4-BE49-F238E27FC236}">
                  <a16:creationId xmlns:a16="http://schemas.microsoft.com/office/drawing/2014/main" id="{1368D216-2271-414F-8E2F-BBD7BAE5B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0">
              <a:extLst>
                <a:ext uri="{FF2B5EF4-FFF2-40B4-BE49-F238E27FC236}">
                  <a16:creationId xmlns:a16="http://schemas.microsoft.com/office/drawing/2014/main" id="{78B8D732-8D97-4C44-AD9D-A701837D8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11">
              <a:extLst>
                <a:ext uri="{FF2B5EF4-FFF2-40B4-BE49-F238E27FC236}">
                  <a16:creationId xmlns:a16="http://schemas.microsoft.com/office/drawing/2014/main" id="{EC4E30E9-8EDF-4BD6-8B3D-62A3CBE9D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Freeform 12">
              <a:extLst>
                <a:ext uri="{FF2B5EF4-FFF2-40B4-BE49-F238E27FC236}">
                  <a16:creationId xmlns:a16="http://schemas.microsoft.com/office/drawing/2014/main" id="{EF6A7406-59C6-46D9-99E9-438B2A9D3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2" name="Freeform 13">
              <a:extLst>
                <a:ext uri="{FF2B5EF4-FFF2-40B4-BE49-F238E27FC236}">
                  <a16:creationId xmlns:a16="http://schemas.microsoft.com/office/drawing/2014/main" id="{D1DD83FF-178D-48F7-B949-BEA201D49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14">
              <a:extLst>
                <a:ext uri="{FF2B5EF4-FFF2-40B4-BE49-F238E27FC236}">
                  <a16:creationId xmlns:a16="http://schemas.microsoft.com/office/drawing/2014/main" id="{6A5A29AD-C101-4CE2-979A-6DCB4A7A4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15">
              <a:extLst>
                <a:ext uri="{FF2B5EF4-FFF2-40B4-BE49-F238E27FC236}">
                  <a16:creationId xmlns:a16="http://schemas.microsoft.com/office/drawing/2014/main" id="{7E64DC01-A372-4A6D-9F23-2A5CBF99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16">
              <a:extLst>
                <a:ext uri="{FF2B5EF4-FFF2-40B4-BE49-F238E27FC236}">
                  <a16:creationId xmlns:a16="http://schemas.microsoft.com/office/drawing/2014/main" id="{0E0D1E88-1947-4726-BC4B-0B8C3ECC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17">
              <a:extLst>
                <a:ext uri="{FF2B5EF4-FFF2-40B4-BE49-F238E27FC236}">
                  <a16:creationId xmlns:a16="http://schemas.microsoft.com/office/drawing/2014/main" id="{EA9ECCEF-2E16-4CA2-85D4-9EB37FE66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18">
              <a:extLst>
                <a:ext uri="{FF2B5EF4-FFF2-40B4-BE49-F238E27FC236}">
                  <a16:creationId xmlns:a16="http://schemas.microsoft.com/office/drawing/2014/main" id="{1C6C3FA0-B2D3-4D4D-8628-B14A3FA77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19">
              <a:extLst>
                <a:ext uri="{FF2B5EF4-FFF2-40B4-BE49-F238E27FC236}">
                  <a16:creationId xmlns:a16="http://schemas.microsoft.com/office/drawing/2014/main" id="{3A753C5E-01E1-4D65-A6EB-E5930DCFD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0">
              <a:extLst>
                <a:ext uri="{FF2B5EF4-FFF2-40B4-BE49-F238E27FC236}">
                  <a16:creationId xmlns:a16="http://schemas.microsoft.com/office/drawing/2014/main" id="{E46804AC-3189-4DC2-9BC5-384EC685C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21">
              <a:extLst>
                <a:ext uri="{FF2B5EF4-FFF2-40B4-BE49-F238E27FC236}">
                  <a16:creationId xmlns:a16="http://schemas.microsoft.com/office/drawing/2014/main" id="{010BEEA6-B9B9-4D2F-AD3E-8EC9E0C99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22">
              <a:extLst>
                <a:ext uri="{FF2B5EF4-FFF2-40B4-BE49-F238E27FC236}">
                  <a16:creationId xmlns:a16="http://schemas.microsoft.com/office/drawing/2014/main" id="{B3932E83-9873-4D25-86A5-6EE3B14DA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2" name="Freeform 23">
              <a:extLst>
                <a:ext uri="{FF2B5EF4-FFF2-40B4-BE49-F238E27FC236}">
                  <a16:creationId xmlns:a16="http://schemas.microsoft.com/office/drawing/2014/main" id="{1A310838-FF82-41D6-9EF9-A5F113EB8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3" name="Freeform 24">
              <a:extLst>
                <a:ext uri="{FF2B5EF4-FFF2-40B4-BE49-F238E27FC236}">
                  <a16:creationId xmlns:a16="http://schemas.microsoft.com/office/drawing/2014/main" id="{CDBAD0C9-1C9F-40DA-BA69-27A23103A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4" name="Freeform 25">
              <a:extLst>
                <a:ext uri="{FF2B5EF4-FFF2-40B4-BE49-F238E27FC236}">
                  <a16:creationId xmlns:a16="http://schemas.microsoft.com/office/drawing/2014/main" id="{D17596AA-5D74-406E-A51A-16BEDC312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5" name="Freeform 26">
              <a:extLst>
                <a:ext uri="{FF2B5EF4-FFF2-40B4-BE49-F238E27FC236}">
                  <a16:creationId xmlns:a16="http://schemas.microsoft.com/office/drawing/2014/main" id="{DDDC92CF-60F7-4965-B1F2-F81903BB6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6" name="Freeform 27">
              <a:extLst>
                <a:ext uri="{FF2B5EF4-FFF2-40B4-BE49-F238E27FC236}">
                  <a16:creationId xmlns:a16="http://schemas.microsoft.com/office/drawing/2014/main" id="{23107427-2EC2-41B7-B146-DBA62F941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7" name="Freeform 28">
              <a:extLst>
                <a:ext uri="{FF2B5EF4-FFF2-40B4-BE49-F238E27FC236}">
                  <a16:creationId xmlns:a16="http://schemas.microsoft.com/office/drawing/2014/main" id="{7E2FAD21-CCF3-4EC4-8DFC-7DB86329B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8" name="Freeform 29">
              <a:extLst>
                <a:ext uri="{FF2B5EF4-FFF2-40B4-BE49-F238E27FC236}">
                  <a16:creationId xmlns:a16="http://schemas.microsoft.com/office/drawing/2014/main" id="{EE3D718C-F3A6-400C-AC0A-722BDF50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9" name="Freeform 30">
              <a:extLst>
                <a:ext uri="{FF2B5EF4-FFF2-40B4-BE49-F238E27FC236}">
                  <a16:creationId xmlns:a16="http://schemas.microsoft.com/office/drawing/2014/main" id="{2CC9F20E-57E9-4CAB-94E6-3036968D2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0" name="Freeform 31">
              <a:extLst>
                <a:ext uri="{FF2B5EF4-FFF2-40B4-BE49-F238E27FC236}">
                  <a16:creationId xmlns:a16="http://schemas.microsoft.com/office/drawing/2014/main" id="{3AB3EB8C-4DD3-4AB3-B928-8D63333EB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1" name="Freeform 32">
              <a:extLst>
                <a:ext uri="{FF2B5EF4-FFF2-40B4-BE49-F238E27FC236}">
                  <a16:creationId xmlns:a16="http://schemas.microsoft.com/office/drawing/2014/main" id="{78EC0F3C-B7A5-4751-B558-C559831EB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2" name="Rectangle 33">
              <a:extLst>
                <a:ext uri="{FF2B5EF4-FFF2-40B4-BE49-F238E27FC236}">
                  <a16:creationId xmlns:a16="http://schemas.microsoft.com/office/drawing/2014/main" id="{CB4A11DF-A9A4-4BF8-8C77-67CEF8BC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63" name="Freeform 34">
              <a:extLst>
                <a:ext uri="{FF2B5EF4-FFF2-40B4-BE49-F238E27FC236}">
                  <a16:creationId xmlns:a16="http://schemas.microsoft.com/office/drawing/2014/main" id="{D06C7FB4-5DD3-4914-AC07-BEEBD5BF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4" name="Freeform 35">
              <a:extLst>
                <a:ext uri="{FF2B5EF4-FFF2-40B4-BE49-F238E27FC236}">
                  <a16:creationId xmlns:a16="http://schemas.microsoft.com/office/drawing/2014/main" id="{DCB7F6AD-2DBD-4EB2-8C64-694124B4B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5" name="Freeform 36">
              <a:extLst>
                <a:ext uri="{FF2B5EF4-FFF2-40B4-BE49-F238E27FC236}">
                  <a16:creationId xmlns:a16="http://schemas.microsoft.com/office/drawing/2014/main" id="{9E5550B6-5605-4E54-A195-B4BF775F7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6" name="Freeform 37">
              <a:extLst>
                <a:ext uri="{FF2B5EF4-FFF2-40B4-BE49-F238E27FC236}">
                  <a16:creationId xmlns:a16="http://schemas.microsoft.com/office/drawing/2014/main" id="{E304A2E6-18F7-46E4-9E04-3BC7CB760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7" name="Freeform 38">
              <a:extLst>
                <a:ext uri="{FF2B5EF4-FFF2-40B4-BE49-F238E27FC236}">
                  <a16:creationId xmlns:a16="http://schemas.microsoft.com/office/drawing/2014/main" id="{9C72B715-DEA5-4B4E-B501-AB464DED7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8" name="Freeform 39">
              <a:extLst>
                <a:ext uri="{FF2B5EF4-FFF2-40B4-BE49-F238E27FC236}">
                  <a16:creationId xmlns:a16="http://schemas.microsoft.com/office/drawing/2014/main" id="{2437C95C-AE26-46C4-B31F-8AB902D46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9" name="Freeform 40">
              <a:extLst>
                <a:ext uri="{FF2B5EF4-FFF2-40B4-BE49-F238E27FC236}">
                  <a16:creationId xmlns:a16="http://schemas.microsoft.com/office/drawing/2014/main" id="{BBA27273-38F8-4A36-B028-A32478B6C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0" name="Freeform 41">
              <a:extLst>
                <a:ext uri="{FF2B5EF4-FFF2-40B4-BE49-F238E27FC236}">
                  <a16:creationId xmlns:a16="http://schemas.microsoft.com/office/drawing/2014/main" id="{E51A07CA-2C97-4B89-8C8F-FDA4C9CD0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1" name="Freeform 42">
              <a:extLst>
                <a:ext uri="{FF2B5EF4-FFF2-40B4-BE49-F238E27FC236}">
                  <a16:creationId xmlns:a16="http://schemas.microsoft.com/office/drawing/2014/main" id="{EE5FA2D7-5F6C-4D04-9AC4-F3396C956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2" name="Freeform 43">
              <a:extLst>
                <a:ext uri="{FF2B5EF4-FFF2-40B4-BE49-F238E27FC236}">
                  <a16:creationId xmlns:a16="http://schemas.microsoft.com/office/drawing/2014/main" id="{520D88A1-74EF-4BEF-AA1E-F326A663D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3" name="Freeform 44">
              <a:extLst>
                <a:ext uri="{FF2B5EF4-FFF2-40B4-BE49-F238E27FC236}">
                  <a16:creationId xmlns:a16="http://schemas.microsoft.com/office/drawing/2014/main" id="{1EA8D0F6-A8B5-4DA9-BE93-BF469E1DD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4" name="Rectangle 45">
              <a:extLst>
                <a:ext uri="{FF2B5EF4-FFF2-40B4-BE49-F238E27FC236}">
                  <a16:creationId xmlns:a16="http://schemas.microsoft.com/office/drawing/2014/main" id="{901DDDC8-E72F-42BE-AA19-1EF49F7C3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75" name="Freeform 46">
              <a:extLst>
                <a:ext uri="{FF2B5EF4-FFF2-40B4-BE49-F238E27FC236}">
                  <a16:creationId xmlns:a16="http://schemas.microsoft.com/office/drawing/2014/main" id="{B7F08799-84CC-4FEA-BA09-9433D6F8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6" name="Freeform 47">
              <a:extLst>
                <a:ext uri="{FF2B5EF4-FFF2-40B4-BE49-F238E27FC236}">
                  <a16:creationId xmlns:a16="http://schemas.microsoft.com/office/drawing/2014/main" id="{79BFE384-A6F5-453B-9EF3-5AED3651E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7" name="Freeform 48">
              <a:extLst>
                <a:ext uri="{FF2B5EF4-FFF2-40B4-BE49-F238E27FC236}">
                  <a16:creationId xmlns:a16="http://schemas.microsoft.com/office/drawing/2014/main" id="{0DFA5601-E0AD-4408-88DA-E4EC88C3E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8" name="Freeform 49">
              <a:extLst>
                <a:ext uri="{FF2B5EF4-FFF2-40B4-BE49-F238E27FC236}">
                  <a16:creationId xmlns:a16="http://schemas.microsoft.com/office/drawing/2014/main" id="{56D418E4-5A45-4E6E-933E-FB1CE91AD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9" name="Freeform 50">
              <a:extLst>
                <a:ext uri="{FF2B5EF4-FFF2-40B4-BE49-F238E27FC236}">
                  <a16:creationId xmlns:a16="http://schemas.microsoft.com/office/drawing/2014/main" id="{5C69D665-56A6-4A37-AD1F-99694ECE6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0" name="Freeform 51">
              <a:extLst>
                <a:ext uri="{FF2B5EF4-FFF2-40B4-BE49-F238E27FC236}">
                  <a16:creationId xmlns:a16="http://schemas.microsoft.com/office/drawing/2014/main" id="{63233125-FD9D-4C9E-A6BE-A980F6D0D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1" name="Freeform 52">
              <a:extLst>
                <a:ext uri="{FF2B5EF4-FFF2-40B4-BE49-F238E27FC236}">
                  <a16:creationId xmlns:a16="http://schemas.microsoft.com/office/drawing/2014/main" id="{306D92BE-D0C9-4E40-A670-395526119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2" name="Freeform 53">
              <a:extLst>
                <a:ext uri="{FF2B5EF4-FFF2-40B4-BE49-F238E27FC236}">
                  <a16:creationId xmlns:a16="http://schemas.microsoft.com/office/drawing/2014/main" id="{EAEF90F1-3367-4F79-9D5A-6C553F260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3" name="Freeform 54">
              <a:extLst>
                <a:ext uri="{FF2B5EF4-FFF2-40B4-BE49-F238E27FC236}">
                  <a16:creationId xmlns:a16="http://schemas.microsoft.com/office/drawing/2014/main" id="{D6A83746-02ED-4DC5-AEFC-893A1D1FC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4" name="Freeform 55">
              <a:extLst>
                <a:ext uri="{FF2B5EF4-FFF2-40B4-BE49-F238E27FC236}">
                  <a16:creationId xmlns:a16="http://schemas.microsoft.com/office/drawing/2014/main" id="{870B08E6-DF62-467D-939C-3F1F98E6E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5" name="Freeform 56">
              <a:extLst>
                <a:ext uri="{FF2B5EF4-FFF2-40B4-BE49-F238E27FC236}">
                  <a16:creationId xmlns:a16="http://schemas.microsoft.com/office/drawing/2014/main" id="{E62C43E8-6EED-4775-A812-B307C3BB6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6" name="Freeform 57">
              <a:extLst>
                <a:ext uri="{FF2B5EF4-FFF2-40B4-BE49-F238E27FC236}">
                  <a16:creationId xmlns:a16="http://schemas.microsoft.com/office/drawing/2014/main" id="{DCA412B6-54EC-4444-8B8A-9D572B08B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7" name="Freeform 58">
              <a:extLst>
                <a:ext uri="{FF2B5EF4-FFF2-40B4-BE49-F238E27FC236}">
                  <a16:creationId xmlns:a16="http://schemas.microsoft.com/office/drawing/2014/main" id="{7322FB00-608C-46A7-868E-01A55C600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06D9D-074F-48F4-AB3C-8C536866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212" y="1122363"/>
            <a:ext cx="879157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EDA - Summary</a:t>
            </a:r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8DE5EA2-C86F-45CC-A9F1-5100DE1D1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rgbClr val="FFFFFF">
              <a:alpha val="10000"/>
            </a:srgbClr>
          </a:solidFill>
        </p:grpSpPr>
        <p:sp>
          <p:nvSpPr>
            <p:cNvPr id="390" name="Freeform 32">
              <a:extLst>
                <a:ext uri="{FF2B5EF4-FFF2-40B4-BE49-F238E27FC236}">
                  <a16:creationId xmlns:a16="http://schemas.microsoft.com/office/drawing/2014/main" id="{9AA01EC3-108D-4DFC-A750-19ACE71FB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1" name="Freeform 33">
              <a:extLst>
                <a:ext uri="{FF2B5EF4-FFF2-40B4-BE49-F238E27FC236}">
                  <a16:creationId xmlns:a16="http://schemas.microsoft.com/office/drawing/2014/main" id="{A9FCB53A-15A0-47CE-BF67-ADA8B12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2" name="Freeform 34">
              <a:extLst>
                <a:ext uri="{FF2B5EF4-FFF2-40B4-BE49-F238E27FC236}">
                  <a16:creationId xmlns:a16="http://schemas.microsoft.com/office/drawing/2014/main" id="{013DEB80-2F33-454E-ADF4-E250AC4C5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3" name="Freeform 35">
              <a:extLst>
                <a:ext uri="{FF2B5EF4-FFF2-40B4-BE49-F238E27FC236}">
                  <a16:creationId xmlns:a16="http://schemas.microsoft.com/office/drawing/2014/main" id="{7C0608D2-DD43-44FB-9427-8D47F35F9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4" name="Freeform 36">
              <a:extLst>
                <a:ext uri="{FF2B5EF4-FFF2-40B4-BE49-F238E27FC236}">
                  <a16:creationId xmlns:a16="http://schemas.microsoft.com/office/drawing/2014/main" id="{F55DAF32-BF45-427E-8640-FF28881DE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5" name="Freeform 37">
              <a:extLst>
                <a:ext uri="{FF2B5EF4-FFF2-40B4-BE49-F238E27FC236}">
                  <a16:creationId xmlns:a16="http://schemas.microsoft.com/office/drawing/2014/main" id="{B45620ED-F9C5-455B-A9CC-B55AA19B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6" name="Freeform 38">
              <a:extLst>
                <a:ext uri="{FF2B5EF4-FFF2-40B4-BE49-F238E27FC236}">
                  <a16:creationId xmlns:a16="http://schemas.microsoft.com/office/drawing/2014/main" id="{541EBFC0-CD4B-4ED6-91D7-907517148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7" name="Freeform 39">
              <a:extLst>
                <a:ext uri="{FF2B5EF4-FFF2-40B4-BE49-F238E27FC236}">
                  <a16:creationId xmlns:a16="http://schemas.microsoft.com/office/drawing/2014/main" id="{340715CE-35AB-48B6-9AEA-55C593A93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8" name="Freeform 40">
              <a:extLst>
                <a:ext uri="{FF2B5EF4-FFF2-40B4-BE49-F238E27FC236}">
                  <a16:creationId xmlns:a16="http://schemas.microsoft.com/office/drawing/2014/main" id="{D7D01A1B-E910-4A37-82C3-2E0FC595E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9" name="Rectangle 41">
              <a:extLst>
                <a:ext uri="{FF2B5EF4-FFF2-40B4-BE49-F238E27FC236}">
                  <a16:creationId xmlns:a16="http://schemas.microsoft.com/office/drawing/2014/main" id="{8663205C-5E32-4C7F-920B-270F738A1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82002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282B-60EF-484E-B9E3-3D90AEB1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Movielens</a:t>
            </a:r>
            <a:r>
              <a:rPr lang="en-US" dirty="0"/>
              <a:t> 25M dataset - EDA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9D967-B64A-4B34-A6A0-4C6AD31AD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162,541 Users</a:t>
            </a:r>
          </a:p>
          <a:p>
            <a:r>
              <a:rPr lang="en-US" dirty="0"/>
              <a:t>64,243 movies</a:t>
            </a:r>
          </a:p>
          <a:p>
            <a:r>
              <a:rPr lang="en-US" dirty="0"/>
              <a:t>Ratings between 1.0-5.0</a:t>
            </a:r>
          </a:p>
          <a:p>
            <a:r>
              <a:rPr lang="en-US" dirty="0"/>
              <a:t>On average each movie has 423 unique user rantings on it</a:t>
            </a:r>
          </a:p>
          <a:p>
            <a:r>
              <a:rPr lang="en-US" dirty="0"/>
              <a:t>All movies rated by at least 1 user</a:t>
            </a:r>
          </a:p>
          <a:p>
            <a:r>
              <a:rPr lang="en-US" dirty="0"/>
              <a:t>Each user has given ratings to at least 20 unique Movies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E65624-934A-4891-B27B-382705E58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153" y="818275"/>
            <a:ext cx="3381375" cy="301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D5467F-47E8-48AF-B63A-75433A428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153" y="4683967"/>
            <a:ext cx="3558876" cy="173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0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76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77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8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9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0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1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2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3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4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5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6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7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8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9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0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1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2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3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4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5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6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7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8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9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0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1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2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3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4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5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6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7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7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8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9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0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1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2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3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4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5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6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331" name="Rectangle 330">
            <a:extLst>
              <a:ext uri="{FF2B5EF4-FFF2-40B4-BE49-F238E27FC236}">
                <a16:creationId xmlns:a16="http://schemas.microsoft.com/office/drawing/2014/main" id="{2F0EACBB-AB1D-4D11-AE26-0A672B872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DEE0B57-C901-4422-9C96-B0E1A0D4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305051" cy="6858001"/>
            <a:chOff x="0" y="0"/>
            <a:chExt cx="2305051" cy="6858001"/>
          </a:xfrm>
          <a:solidFill>
            <a:schemeClr val="tx1">
              <a:alpha val="15000"/>
            </a:schemeClr>
          </a:solidFill>
          <a:effectLst/>
        </p:grpSpPr>
        <p:sp>
          <p:nvSpPr>
            <p:cNvPr id="334" name="Rectangle 5">
              <a:extLst>
                <a:ext uri="{FF2B5EF4-FFF2-40B4-BE49-F238E27FC236}">
                  <a16:creationId xmlns:a16="http://schemas.microsoft.com/office/drawing/2014/main" id="{DFB7752C-355B-405A-9E36-8A24B1C80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35" name="Freeform 6">
              <a:extLst>
                <a:ext uri="{FF2B5EF4-FFF2-40B4-BE49-F238E27FC236}">
                  <a16:creationId xmlns:a16="http://schemas.microsoft.com/office/drawing/2014/main" id="{D443A052-8BBA-4E89-8E02-7C0E57932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Freeform 7">
              <a:extLst>
                <a:ext uri="{FF2B5EF4-FFF2-40B4-BE49-F238E27FC236}">
                  <a16:creationId xmlns:a16="http://schemas.microsoft.com/office/drawing/2014/main" id="{D84E76D0-F1AA-43A3-AF16-FC0C11A8B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7" name="Rectangle 8">
              <a:extLst>
                <a:ext uri="{FF2B5EF4-FFF2-40B4-BE49-F238E27FC236}">
                  <a16:creationId xmlns:a16="http://schemas.microsoft.com/office/drawing/2014/main" id="{9734AB48-FF75-47D2-A2D4-813E3668D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38" name="Freeform 9">
              <a:extLst>
                <a:ext uri="{FF2B5EF4-FFF2-40B4-BE49-F238E27FC236}">
                  <a16:creationId xmlns:a16="http://schemas.microsoft.com/office/drawing/2014/main" id="{1368D216-2271-414F-8E2F-BBD7BAE5B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0">
              <a:extLst>
                <a:ext uri="{FF2B5EF4-FFF2-40B4-BE49-F238E27FC236}">
                  <a16:creationId xmlns:a16="http://schemas.microsoft.com/office/drawing/2014/main" id="{78B8D732-8D97-4C44-AD9D-A701837D8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11">
              <a:extLst>
                <a:ext uri="{FF2B5EF4-FFF2-40B4-BE49-F238E27FC236}">
                  <a16:creationId xmlns:a16="http://schemas.microsoft.com/office/drawing/2014/main" id="{EC4E30E9-8EDF-4BD6-8B3D-62A3CBE9D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Freeform 12">
              <a:extLst>
                <a:ext uri="{FF2B5EF4-FFF2-40B4-BE49-F238E27FC236}">
                  <a16:creationId xmlns:a16="http://schemas.microsoft.com/office/drawing/2014/main" id="{EF6A7406-59C6-46D9-99E9-438B2A9D3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2" name="Freeform 13">
              <a:extLst>
                <a:ext uri="{FF2B5EF4-FFF2-40B4-BE49-F238E27FC236}">
                  <a16:creationId xmlns:a16="http://schemas.microsoft.com/office/drawing/2014/main" id="{D1DD83FF-178D-48F7-B949-BEA201D49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14">
              <a:extLst>
                <a:ext uri="{FF2B5EF4-FFF2-40B4-BE49-F238E27FC236}">
                  <a16:creationId xmlns:a16="http://schemas.microsoft.com/office/drawing/2014/main" id="{6A5A29AD-C101-4CE2-979A-6DCB4A7A4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15">
              <a:extLst>
                <a:ext uri="{FF2B5EF4-FFF2-40B4-BE49-F238E27FC236}">
                  <a16:creationId xmlns:a16="http://schemas.microsoft.com/office/drawing/2014/main" id="{7E64DC01-A372-4A6D-9F23-2A5CBF99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16">
              <a:extLst>
                <a:ext uri="{FF2B5EF4-FFF2-40B4-BE49-F238E27FC236}">
                  <a16:creationId xmlns:a16="http://schemas.microsoft.com/office/drawing/2014/main" id="{0E0D1E88-1947-4726-BC4B-0B8C3ECC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17">
              <a:extLst>
                <a:ext uri="{FF2B5EF4-FFF2-40B4-BE49-F238E27FC236}">
                  <a16:creationId xmlns:a16="http://schemas.microsoft.com/office/drawing/2014/main" id="{EA9ECCEF-2E16-4CA2-85D4-9EB37FE66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18">
              <a:extLst>
                <a:ext uri="{FF2B5EF4-FFF2-40B4-BE49-F238E27FC236}">
                  <a16:creationId xmlns:a16="http://schemas.microsoft.com/office/drawing/2014/main" id="{1C6C3FA0-B2D3-4D4D-8628-B14A3FA77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19">
              <a:extLst>
                <a:ext uri="{FF2B5EF4-FFF2-40B4-BE49-F238E27FC236}">
                  <a16:creationId xmlns:a16="http://schemas.microsoft.com/office/drawing/2014/main" id="{3A753C5E-01E1-4D65-A6EB-E5930DCFD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0">
              <a:extLst>
                <a:ext uri="{FF2B5EF4-FFF2-40B4-BE49-F238E27FC236}">
                  <a16:creationId xmlns:a16="http://schemas.microsoft.com/office/drawing/2014/main" id="{E46804AC-3189-4DC2-9BC5-384EC685C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21">
              <a:extLst>
                <a:ext uri="{FF2B5EF4-FFF2-40B4-BE49-F238E27FC236}">
                  <a16:creationId xmlns:a16="http://schemas.microsoft.com/office/drawing/2014/main" id="{010BEEA6-B9B9-4D2F-AD3E-8EC9E0C99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22">
              <a:extLst>
                <a:ext uri="{FF2B5EF4-FFF2-40B4-BE49-F238E27FC236}">
                  <a16:creationId xmlns:a16="http://schemas.microsoft.com/office/drawing/2014/main" id="{B3932E83-9873-4D25-86A5-6EE3B14DA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2" name="Freeform 23">
              <a:extLst>
                <a:ext uri="{FF2B5EF4-FFF2-40B4-BE49-F238E27FC236}">
                  <a16:creationId xmlns:a16="http://schemas.microsoft.com/office/drawing/2014/main" id="{1A310838-FF82-41D6-9EF9-A5F113EB8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3" name="Freeform 24">
              <a:extLst>
                <a:ext uri="{FF2B5EF4-FFF2-40B4-BE49-F238E27FC236}">
                  <a16:creationId xmlns:a16="http://schemas.microsoft.com/office/drawing/2014/main" id="{CDBAD0C9-1C9F-40DA-BA69-27A23103A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4" name="Freeform 25">
              <a:extLst>
                <a:ext uri="{FF2B5EF4-FFF2-40B4-BE49-F238E27FC236}">
                  <a16:creationId xmlns:a16="http://schemas.microsoft.com/office/drawing/2014/main" id="{D17596AA-5D74-406E-A51A-16BEDC312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5" name="Freeform 26">
              <a:extLst>
                <a:ext uri="{FF2B5EF4-FFF2-40B4-BE49-F238E27FC236}">
                  <a16:creationId xmlns:a16="http://schemas.microsoft.com/office/drawing/2014/main" id="{DDDC92CF-60F7-4965-B1F2-F81903BB6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6" name="Freeform 27">
              <a:extLst>
                <a:ext uri="{FF2B5EF4-FFF2-40B4-BE49-F238E27FC236}">
                  <a16:creationId xmlns:a16="http://schemas.microsoft.com/office/drawing/2014/main" id="{23107427-2EC2-41B7-B146-DBA62F941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7" name="Freeform 28">
              <a:extLst>
                <a:ext uri="{FF2B5EF4-FFF2-40B4-BE49-F238E27FC236}">
                  <a16:creationId xmlns:a16="http://schemas.microsoft.com/office/drawing/2014/main" id="{7E2FAD21-CCF3-4EC4-8DFC-7DB86329B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8" name="Freeform 29">
              <a:extLst>
                <a:ext uri="{FF2B5EF4-FFF2-40B4-BE49-F238E27FC236}">
                  <a16:creationId xmlns:a16="http://schemas.microsoft.com/office/drawing/2014/main" id="{EE3D718C-F3A6-400C-AC0A-722BDF50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9" name="Freeform 30">
              <a:extLst>
                <a:ext uri="{FF2B5EF4-FFF2-40B4-BE49-F238E27FC236}">
                  <a16:creationId xmlns:a16="http://schemas.microsoft.com/office/drawing/2014/main" id="{2CC9F20E-57E9-4CAB-94E6-3036968D2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0" name="Freeform 31">
              <a:extLst>
                <a:ext uri="{FF2B5EF4-FFF2-40B4-BE49-F238E27FC236}">
                  <a16:creationId xmlns:a16="http://schemas.microsoft.com/office/drawing/2014/main" id="{3AB3EB8C-4DD3-4AB3-B928-8D63333EB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1" name="Freeform 32">
              <a:extLst>
                <a:ext uri="{FF2B5EF4-FFF2-40B4-BE49-F238E27FC236}">
                  <a16:creationId xmlns:a16="http://schemas.microsoft.com/office/drawing/2014/main" id="{78EC0F3C-B7A5-4751-B558-C559831EB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2" name="Rectangle 33">
              <a:extLst>
                <a:ext uri="{FF2B5EF4-FFF2-40B4-BE49-F238E27FC236}">
                  <a16:creationId xmlns:a16="http://schemas.microsoft.com/office/drawing/2014/main" id="{CB4A11DF-A9A4-4BF8-8C77-67CEF8BC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63" name="Freeform 34">
              <a:extLst>
                <a:ext uri="{FF2B5EF4-FFF2-40B4-BE49-F238E27FC236}">
                  <a16:creationId xmlns:a16="http://schemas.microsoft.com/office/drawing/2014/main" id="{D06C7FB4-5DD3-4914-AC07-BEEBD5BF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4" name="Freeform 35">
              <a:extLst>
                <a:ext uri="{FF2B5EF4-FFF2-40B4-BE49-F238E27FC236}">
                  <a16:creationId xmlns:a16="http://schemas.microsoft.com/office/drawing/2014/main" id="{DCB7F6AD-2DBD-4EB2-8C64-694124B4B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5" name="Freeform 36">
              <a:extLst>
                <a:ext uri="{FF2B5EF4-FFF2-40B4-BE49-F238E27FC236}">
                  <a16:creationId xmlns:a16="http://schemas.microsoft.com/office/drawing/2014/main" id="{9E5550B6-5605-4E54-A195-B4BF775F7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6" name="Freeform 37">
              <a:extLst>
                <a:ext uri="{FF2B5EF4-FFF2-40B4-BE49-F238E27FC236}">
                  <a16:creationId xmlns:a16="http://schemas.microsoft.com/office/drawing/2014/main" id="{E304A2E6-18F7-46E4-9E04-3BC7CB760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7" name="Freeform 38">
              <a:extLst>
                <a:ext uri="{FF2B5EF4-FFF2-40B4-BE49-F238E27FC236}">
                  <a16:creationId xmlns:a16="http://schemas.microsoft.com/office/drawing/2014/main" id="{9C72B715-DEA5-4B4E-B501-AB464DED7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8" name="Freeform 39">
              <a:extLst>
                <a:ext uri="{FF2B5EF4-FFF2-40B4-BE49-F238E27FC236}">
                  <a16:creationId xmlns:a16="http://schemas.microsoft.com/office/drawing/2014/main" id="{2437C95C-AE26-46C4-B31F-8AB902D46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9" name="Freeform 40">
              <a:extLst>
                <a:ext uri="{FF2B5EF4-FFF2-40B4-BE49-F238E27FC236}">
                  <a16:creationId xmlns:a16="http://schemas.microsoft.com/office/drawing/2014/main" id="{BBA27273-38F8-4A36-B028-A32478B6C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0" name="Freeform 41">
              <a:extLst>
                <a:ext uri="{FF2B5EF4-FFF2-40B4-BE49-F238E27FC236}">
                  <a16:creationId xmlns:a16="http://schemas.microsoft.com/office/drawing/2014/main" id="{E51A07CA-2C97-4B89-8C8F-FDA4C9CD0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1" name="Freeform 42">
              <a:extLst>
                <a:ext uri="{FF2B5EF4-FFF2-40B4-BE49-F238E27FC236}">
                  <a16:creationId xmlns:a16="http://schemas.microsoft.com/office/drawing/2014/main" id="{EE5FA2D7-5F6C-4D04-9AC4-F3396C956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2" name="Freeform 43">
              <a:extLst>
                <a:ext uri="{FF2B5EF4-FFF2-40B4-BE49-F238E27FC236}">
                  <a16:creationId xmlns:a16="http://schemas.microsoft.com/office/drawing/2014/main" id="{520D88A1-74EF-4BEF-AA1E-F326A663D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3" name="Freeform 44">
              <a:extLst>
                <a:ext uri="{FF2B5EF4-FFF2-40B4-BE49-F238E27FC236}">
                  <a16:creationId xmlns:a16="http://schemas.microsoft.com/office/drawing/2014/main" id="{1EA8D0F6-A8B5-4DA9-BE93-BF469E1DD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4" name="Rectangle 45">
              <a:extLst>
                <a:ext uri="{FF2B5EF4-FFF2-40B4-BE49-F238E27FC236}">
                  <a16:creationId xmlns:a16="http://schemas.microsoft.com/office/drawing/2014/main" id="{901DDDC8-E72F-42BE-AA19-1EF49F7C3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75" name="Freeform 46">
              <a:extLst>
                <a:ext uri="{FF2B5EF4-FFF2-40B4-BE49-F238E27FC236}">
                  <a16:creationId xmlns:a16="http://schemas.microsoft.com/office/drawing/2014/main" id="{B7F08799-84CC-4FEA-BA09-9433D6F8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6" name="Freeform 47">
              <a:extLst>
                <a:ext uri="{FF2B5EF4-FFF2-40B4-BE49-F238E27FC236}">
                  <a16:creationId xmlns:a16="http://schemas.microsoft.com/office/drawing/2014/main" id="{79BFE384-A6F5-453B-9EF3-5AED3651E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7" name="Freeform 48">
              <a:extLst>
                <a:ext uri="{FF2B5EF4-FFF2-40B4-BE49-F238E27FC236}">
                  <a16:creationId xmlns:a16="http://schemas.microsoft.com/office/drawing/2014/main" id="{0DFA5601-E0AD-4408-88DA-E4EC88C3E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8" name="Freeform 49">
              <a:extLst>
                <a:ext uri="{FF2B5EF4-FFF2-40B4-BE49-F238E27FC236}">
                  <a16:creationId xmlns:a16="http://schemas.microsoft.com/office/drawing/2014/main" id="{56D418E4-5A45-4E6E-933E-FB1CE91AD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9" name="Freeform 50">
              <a:extLst>
                <a:ext uri="{FF2B5EF4-FFF2-40B4-BE49-F238E27FC236}">
                  <a16:creationId xmlns:a16="http://schemas.microsoft.com/office/drawing/2014/main" id="{5C69D665-56A6-4A37-AD1F-99694ECE6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0" name="Freeform 51">
              <a:extLst>
                <a:ext uri="{FF2B5EF4-FFF2-40B4-BE49-F238E27FC236}">
                  <a16:creationId xmlns:a16="http://schemas.microsoft.com/office/drawing/2014/main" id="{63233125-FD9D-4C9E-A6BE-A980F6D0D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1" name="Freeform 52">
              <a:extLst>
                <a:ext uri="{FF2B5EF4-FFF2-40B4-BE49-F238E27FC236}">
                  <a16:creationId xmlns:a16="http://schemas.microsoft.com/office/drawing/2014/main" id="{306D92BE-D0C9-4E40-A670-395526119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2" name="Freeform 53">
              <a:extLst>
                <a:ext uri="{FF2B5EF4-FFF2-40B4-BE49-F238E27FC236}">
                  <a16:creationId xmlns:a16="http://schemas.microsoft.com/office/drawing/2014/main" id="{EAEF90F1-3367-4F79-9D5A-6C553F260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3" name="Freeform 54">
              <a:extLst>
                <a:ext uri="{FF2B5EF4-FFF2-40B4-BE49-F238E27FC236}">
                  <a16:creationId xmlns:a16="http://schemas.microsoft.com/office/drawing/2014/main" id="{D6A83746-02ED-4DC5-AEFC-893A1D1FC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4" name="Freeform 55">
              <a:extLst>
                <a:ext uri="{FF2B5EF4-FFF2-40B4-BE49-F238E27FC236}">
                  <a16:creationId xmlns:a16="http://schemas.microsoft.com/office/drawing/2014/main" id="{870B08E6-DF62-467D-939C-3F1F98E6E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5" name="Freeform 56">
              <a:extLst>
                <a:ext uri="{FF2B5EF4-FFF2-40B4-BE49-F238E27FC236}">
                  <a16:creationId xmlns:a16="http://schemas.microsoft.com/office/drawing/2014/main" id="{E62C43E8-6EED-4775-A812-B307C3BB6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6" name="Freeform 57">
              <a:extLst>
                <a:ext uri="{FF2B5EF4-FFF2-40B4-BE49-F238E27FC236}">
                  <a16:creationId xmlns:a16="http://schemas.microsoft.com/office/drawing/2014/main" id="{DCA412B6-54EC-4444-8B8A-9D572B08B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7" name="Freeform 58">
              <a:extLst>
                <a:ext uri="{FF2B5EF4-FFF2-40B4-BE49-F238E27FC236}">
                  <a16:creationId xmlns:a16="http://schemas.microsoft.com/office/drawing/2014/main" id="{7322FB00-608C-46A7-868E-01A55C600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06D9D-074F-48F4-AB3C-8C536866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024" y="1434306"/>
            <a:ext cx="982186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SVD - </a:t>
            </a:r>
            <a:r>
              <a:rPr lang="en-US" sz="4000" dirty="0"/>
              <a:t>Singular Value Decomposition</a:t>
            </a:r>
            <a:endParaRPr lang="en-US" sz="5400" dirty="0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8DE5EA2-C86F-45CC-A9F1-5100DE1D1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rgbClr val="FFFFFF">
              <a:alpha val="10000"/>
            </a:srgbClr>
          </a:solidFill>
        </p:grpSpPr>
        <p:sp>
          <p:nvSpPr>
            <p:cNvPr id="390" name="Freeform 32">
              <a:extLst>
                <a:ext uri="{FF2B5EF4-FFF2-40B4-BE49-F238E27FC236}">
                  <a16:creationId xmlns:a16="http://schemas.microsoft.com/office/drawing/2014/main" id="{9AA01EC3-108D-4DFC-A750-19ACE71FB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1" name="Freeform 33">
              <a:extLst>
                <a:ext uri="{FF2B5EF4-FFF2-40B4-BE49-F238E27FC236}">
                  <a16:creationId xmlns:a16="http://schemas.microsoft.com/office/drawing/2014/main" id="{A9FCB53A-15A0-47CE-BF67-ADA8B12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2" name="Freeform 34">
              <a:extLst>
                <a:ext uri="{FF2B5EF4-FFF2-40B4-BE49-F238E27FC236}">
                  <a16:creationId xmlns:a16="http://schemas.microsoft.com/office/drawing/2014/main" id="{013DEB80-2F33-454E-ADF4-E250AC4C5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3" name="Freeform 35">
              <a:extLst>
                <a:ext uri="{FF2B5EF4-FFF2-40B4-BE49-F238E27FC236}">
                  <a16:creationId xmlns:a16="http://schemas.microsoft.com/office/drawing/2014/main" id="{7C0608D2-DD43-44FB-9427-8D47F35F9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4" name="Freeform 36">
              <a:extLst>
                <a:ext uri="{FF2B5EF4-FFF2-40B4-BE49-F238E27FC236}">
                  <a16:creationId xmlns:a16="http://schemas.microsoft.com/office/drawing/2014/main" id="{F55DAF32-BF45-427E-8640-FF28881DE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5" name="Freeform 37">
              <a:extLst>
                <a:ext uri="{FF2B5EF4-FFF2-40B4-BE49-F238E27FC236}">
                  <a16:creationId xmlns:a16="http://schemas.microsoft.com/office/drawing/2014/main" id="{B45620ED-F9C5-455B-A9CC-B55AA19B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6" name="Freeform 38">
              <a:extLst>
                <a:ext uri="{FF2B5EF4-FFF2-40B4-BE49-F238E27FC236}">
                  <a16:creationId xmlns:a16="http://schemas.microsoft.com/office/drawing/2014/main" id="{541EBFC0-CD4B-4ED6-91D7-907517148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7" name="Freeform 39">
              <a:extLst>
                <a:ext uri="{FF2B5EF4-FFF2-40B4-BE49-F238E27FC236}">
                  <a16:creationId xmlns:a16="http://schemas.microsoft.com/office/drawing/2014/main" id="{340715CE-35AB-48B6-9AEA-55C593A93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8" name="Freeform 40">
              <a:extLst>
                <a:ext uri="{FF2B5EF4-FFF2-40B4-BE49-F238E27FC236}">
                  <a16:creationId xmlns:a16="http://schemas.microsoft.com/office/drawing/2014/main" id="{D7D01A1B-E910-4A37-82C3-2E0FC595E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9" name="Rectangle 41">
              <a:extLst>
                <a:ext uri="{FF2B5EF4-FFF2-40B4-BE49-F238E27FC236}">
                  <a16:creationId xmlns:a16="http://schemas.microsoft.com/office/drawing/2014/main" id="{8663205C-5E32-4C7F-920B-270F738A1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906200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8985-DA86-4491-A4E0-F3B084CA3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Filtering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11E71-226C-41F4-A336-5A5B22EB6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Provide movie recommendations based on existing rating by similar users</a:t>
            </a:r>
          </a:p>
          <a:p>
            <a:pPr marL="0" indent="0">
              <a:buNone/>
            </a:pPr>
            <a:r>
              <a:rPr lang="en-US" dirty="0"/>
              <a:t>Data used:</a:t>
            </a:r>
          </a:p>
          <a:p>
            <a:pPr lvl="1"/>
            <a:r>
              <a:rPr lang="en-US" dirty="0"/>
              <a:t>Users</a:t>
            </a:r>
          </a:p>
          <a:p>
            <a:pPr lvl="1"/>
            <a:r>
              <a:rPr lang="en-US" dirty="0"/>
              <a:t>Ratings</a:t>
            </a:r>
          </a:p>
          <a:p>
            <a:pPr lvl="1"/>
            <a:r>
              <a:rPr lang="en-US" dirty="0"/>
              <a:t>Movie Titles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E70A64-8030-45C3-BF54-3C12356F4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229" y="2778869"/>
            <a:ext cx="38195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0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5040-611F-4FCC-81FD-D4EF7A5D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SVD – Singular Value Decomposition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C894C6-104D-484F-80A7-B799457798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753" b="2"/>
          <a:stretch/>
        </p:blipFill>
        <p:spPr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0465-6F2A-4F64-88EA-4672DF6E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7527" y="2250809"/>
            <a:ext cx="6388447" cy="3541714"/>
          </a:xfrm>
        </p:spPr>
        <p:txBody>
          <a:bodyPr anchor="ctr">
            <a:normAutofit/>
          </a:bodyPr>
          <a:lstStyle/>
          <a:p>
            <a:r>
              <a:rPr lang="en-US" dirty="0"/>
              <a:t>Matrix factorization technique that reduces the number of features</a:t>
            </a:r>
          </a:p>
          <a:p>
            <a:r>
              <a:rPr lang="en-US" dirty="0"/>
              <a:t>Use dot product between the latent features of movie and user to predict the rating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9818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5040-611F-4FCC-81FD-D4EF7A5D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/>
              <a:t>SVD – Singular Value Decomposition</a:t>
            </a:r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196A8-8F46-44D8-A1F6-1548FB9FCC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68" r="5217" b="-3"/>
          <a:stretch/>
        </p:blipFill>
        <p:spPr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0465-6F2A-4F64-88EA-4672DF6E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479" y="2249487"/>
            <a:ext cx="4844521" cy="3541714"/>
          </a:xfrm>
        </p:spPr>
        <p:txBody>
          <a:bodyPr anchor="ctr">
            <a:normAutofit/>
          </a:bodyPr>
          <a:lstStyle/>
          <a:p>
            <a:r>
              <a:rPr lang="en-US" dirty="0"/>
              <a:t>We can compare users with other users or a movie with other movies to find similarity</a:t>
            </a:r>
          </a:p>
          <a:p>
            <a:r>
              <a:rPr lang="en-US" dirty="0"/>
              <a:t>Cosine similarity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5710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76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77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8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9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0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1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2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3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4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5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6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7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8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9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0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1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2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3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4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5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6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7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8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9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0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1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2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3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4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5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6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7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7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8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9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0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1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2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3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4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5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6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331" name="Rectangle 330">
            <a:extLst>
              <a:ext uri="{FF2B5EF4-FFF2-40B4-BE49-F238E27FC236}">
                <a16:creationId xmlns:a16="http://schemas.microsoft.com/office/drawing/2014/main" id="{2F0EACBB-AB1D-4D11-AE26-0A672B872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DEE0B57-C901-4422-9C96-B0E1A0D4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305051" cy="6858001"/>
            <a:chOff x="0" y="0"/>
            <a:chExt cx="2305051" cy="6858001"/>
          </a:xfrm>
          <a:solidFill>
            <a:schemeClr val="tx1">
              <a:alpha val="15000"/>
            </a:schemeClr>
          </a:solidFill>
          <a:effectLst/>
        </p:grpSpPr>
        <p:sp>
          <p:nvSpPr>
            <p:cNvPr id="334" name="Rectangle 5">
              <a:extLst>
                <a:ext uri="{FF2B5EF4-FFF2-40B4-BE49-F238E27FC236}">
                  <a16:creationId xmlns:a16="http://schemas.microsoft.com/office/drawing/2014/main" id="{DFB7752C-355B-405A-9E36-8A24B1C80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35" name="Freeform 6">
              <a:extLst>
                <a:ext uri="{FF2B5EF4-FFF2-40B4-BE49-F238E27FC236}">
                  <a16:creationId xmlns:a16="http://schemas.microsoft.com/office/drawing/2014/main" id="{D443A052-8BBA-4E89-8E02-7C0E57932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6" name="Freeform 7">
              <a:extLst>
                <a:ext uri="{FF2B5EF4-FFF2-40B4-BE49-F238E27FC236}">
                  <a16:creationId xmlns:a16="http://schemas.microsoft.com/office/drawing/2014/main" id="{D84E76D0-F1AA-43A3-AF16-FC0C11A8B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7" name="Rectangle 8">
              <a:extLst>
                <a:ext uri="{FF2B5EF4-FFF2-40B4-BE49-F238E27FC236}">
                  <a16:creationId xmlns:a16="http://schemas.microsoft.com/office/drawing/2014/main" id="{9734AB48-FF75-47D2-A2D4-813E3668D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38" name="Freeform 9">
              <a:extLst>
                <a:ext uri="{FF2B5EF4-FFF2-40B4-BE49-F238E27FC236}">
                  <a16:creationId xmlns:a16="http://schemas.microsoft.com/office/drawing/2014/main" id="{1368D216-2271-414F-8E2F-BBD7BAE5B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9" name="Freeform 10">
              <a:extLst>
                <a:ext uri="{FF2B5EF4-FFF2-40B4-BE49-F238E27FC236}">
                  <a16:creationId xmlns:a16="http://schemas.microsoft.com/office/drawing/2014/main" id="{78B8D732-8D97-4C44-AD9D-A701837D8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0" name="Freeform 11">
              <a:extLst>
                <a:ext uri="{FF2B5EF4-FFF2-40B4-BE49-F238E27FC236}">
                  <a16:creationId xmlns:a16="http://schemas.microsoft.com/office/drawing/2014/main" id="{EC4E30E9-8EDF-4BD6-8B3D-62A3CBE9D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1" name="Freeform 12">
              <a:extLst>
                <a:ext uri="{FF2B5EF4-FFF2-40B4-BE49-F238E27FC236}">
                  <a16:creationId xmlns:a16="http://schemas.microsoft.com/office/drawing/2014/main" id="{EF6A7406-59C6-46D9-99E9-438B2A9D3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2" name="Freeform 13">
              <a:extLst>
                <a:ext uri="{FF2B5EF4-FFF2-40B4-BE49-F238E27FC236}">
                  <a16:creationId xmlns:a16="http://schemas.microsoft.com/office/drawing/2014/main" id="{D1DD83FF-178D-48F7-B949-BEA201D49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3" name="Freeform 14">
              <a:extLst>
                <a:ext uri="{FF2B5EF4-FFF2-40B4-BE49-F238E27FC236}">
                  <a16:creationId xmlns:a16="http://schemas.microsoft.com/office/drawing/2014/main" id="{6A5A29AD-C101-4CE2-979A-6DCB4A7A4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4" name="Freeform 15">
              <a:extLst>
                <a:ext uri="{FF2B5EF4-FFF2-40B4-BE49-F238E27FC236}">
                  <a16:creationId xmlns:a16="http://schemas.microsoft.com/office/drawing/2014/main" id="{7E64DC01-A372-4A6D-9F23-2A5CBF99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5" name="Freeform 16">
              <a:extLst>
                <a:ext uri="{FF2B5EF4-FFF2-40B4-BE49-F238E27FC236}">
                  <a16:creationId xmlns:a16="http://schemas.microsoft.com/office/drawing/2014/main" id="{0E0D1E88-1947-4726-BC4B-0B8C3ECC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6" name="Freeform 17">
              <a:extLst>
                <a:ext uri="{FF2B5EF4-FFF2-40B4-BE49-F238E27FC236}">
                  <a16:creationId xmlns:a16="http://schemas.microsoft.com/office/drawing/2014/main" id="{EA9ECCEF-2E16-4CA2-85D4-9EB37FE66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7" name="Freeform 18">
              <a:extLst>
                <a:ext uri="{FF2B5EF4-FFF2-40B4-BE49-F238E27FC236}">
                  <a16:creationId xmlns:a16="http://schemas.microsoft.com/office/drawing/2014/main" id="{1C6C3FA0-B2D3-4D4D-8628-B14A3FA77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8" name="Freeform 19">
              <a:extLst>
                <a:ext uri="{FF2B5EF4-FFF2-40B4-BE49-F238E27FC236}">
                  <a16:creationId xmlns:a16="http://schemas.microsoft.com/office/drawing/2014/main" id="{3A753C5E-01E1-4D65-A6EB-E5930DCFD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9" name="Freeform 20">
              <a:extLst>
                <a:ext uri="{FF2B5EF4-FFF2-40B4-BE49-F238E27FC236}">
                  <a16:creationId xmlns:a16="http://schemas.microsoft.com/office/drawing/2014/main" id="{E46804AC-3189-4DC2-9BC5-384EC685C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0" name="Freeform 21">
              <a:extLst>
                <a:ext uri="{FF2B5EF4-FFF2-40B4-BE49-F238E27FC236}">
                  <a16:creationId xmlns:a16="http://schemas.microsoft.com/office/drawing/2014/main" id="{010BEEA6-B9B9-4D2F-AD3E-8EC9E0C99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1" name="Freeform 22">
              <a:extLst>
                <a:ext uri="{FF2B5EF4-FFF2-40B4-BE49-F238E27FC236}">
                  <a16:creationId xmlns:a16="http://schemas.microsoft.com/office/drawing/2014/main" id="{B3932E83-9873-4D25-86A5-6EE3B14DA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2" name="Freeform 23">
              <a:extLst>
                <a:ext uri="{FF2B5EF4-FFF2-40B4-BE49-F238E27FC236}">
                  <a16:creationId xmlns:a16="http://schemas.microsoft.com/office/drawing/2014/main" id="{1A310838-FF82-41D6-9EF9-A5F113EB8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3" name="Freeform 24">
              <a:extLst>
                <a:ext uri="{FF2B5EF4-FFF2-40B4-BE49-F238E27FC236}">
                  <a16:creationId xmlns:a16="http://schemas.microsoft.com/office/drawing/2014/main" id="{CDBAD0C9-1C9F-40DA-BA69-27A23103A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4" name="Freeform 25">
              <a:extLst>
                <a:ext uri="{FF2B5EF4-FFF2-40B4-BE49-F238E27FC236}">
                  <a16:creationId xmlns:a16="http://schemas.microsoft.com/office/drawing/2014/main" id="{D17596AA-5D74-406E-A51A-16BEDC312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5" name="Freeform 26">
              <a:extLst>
                <a:ext uri="{FF2B5EF4-FFF2-40B4-BE49-F238E27FC236}">
                  <a16:creationId xmlns:a16="http://schemas.microsoft.com/office/drawing/2014/main" id="{DDDC92CF-60F7-4965-B1F2-F81903BB6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6" name="Freeform 27">
              <a:extLst>
                <a:ext uri="{FF2B5EF4-FFF2-40B4-BE49-F238E27FC236}">
                  <a16:creationId xmlns:a16="http://schemas.microsoft.com/office/drawing/2014/main" id="{23107427-2EC2-41B7-B146-DBA62F941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7" name="Freeform 28">
              <a:extLst>
                <a:ext uri="{FF2B5EF4-FFF2-40B4-BE49-F238E27FC236}">
                  <a16:creationId xmlns:a16="http://schemas.microsoft.com/office/drawing/2014/main" id="{7E2FAD21-CCF3-4EC4-8DFC-7DB86329B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8" name="Freeform 29">
              <a:extLst>
                <a:ext uri="{FF2B5EF4-FFF2-40B4-BE49-F238E27FC236}">
                  <a16:creationId xmlns:a16="http://schemas.microsoft.com/office/drawing/2014/main" id="{EE3D718C-F3A6-400C-AC0A-722BDF50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9" name="Freeform 30">
              <a:extLst>
                <a:ext uri="{FF2B5EF4-FFF2-40B4-BE49-F238E27FC236}">
                  <a16:creationId xmlns:a16="http://schemas.microsoft.com/office/drawing/2014/main" id="{2CC9F20E-57E9-4CAB-94E6-3036968D2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0" name="Freeform 31">
              <a:extLst>
                <a:ext uri="{FF2B5EF4-FFF2-40B4-BE49-F238E27FC236}">
                  <a16:creationId xmlns:a16="http://schemas.microsoft.com/office/drawing/2014/main" id="{3AB3EB8C-4DD3-4AB3-B928-8D63333EB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1" name="Freeform 32">
              <a:extLst>
                <a:ext uri="{FF2B5EF4-FFF2-40B4-BE49-F238E27FC236}">
                  <a16:creationId xmlns:a16="http://schemas.microsoft.com/office/drawing/2014/main" id="{78EC0F3C-B7A5-4751-B558-C559831EB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2" name="Rectangle 33">
              <a:extLst>
                <a:ext uri="{FF2B5EF4-FFF2-40B4-BE49-F238E27FC236}">
                  <a16:creationId xmlns:a16="http://schemas.microsoft.com/office/drawing/2014/main" id="{CB4A11DF-A9A4-4BF8-8C77-67CEF8BC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63" name="Freeform 34">
              <a:extLst>
                <a:ext uri="{FF2B5EF4-FFF2-40B4-BE49-F238E27FC236}">
                  <a16:creationId xmlns:a16="http://schemas.microsoft.com/office/drawing/2014/main" id="{D06C7FB4-5DD3-4914-AC07-BEEBD5BF7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4" name="Freeform 35">
              <a:extLst>
                <a:ext uri="{FF2B5EF4-FFF2-40B4-BE49-F238E27FC236}">
                  <a16:creationId xmlns:a16="http://schemas.microsoft.com/office/drawing/2014/main" id="{DCB7F6AD-2DBD-4EB2-8C64-694124B4B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5" name="Freeform 36">
              <a:extLst>
                <a:ext uri="{FF2B5EF4-FFF2-40B4-BE49-F238E27FC236}">
                  <a16:creationId xmlns:a16="http://schemas.microsoft.com/office/drawing/2014/main" id="{9E5550B6-5605-4E54-A195-B4BF775F7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6" name="Freeform 37">
              <a:extLst>
                <a:ext uri="{FF2B5EF4-FFF2-40B4-BE49-F238E27FC236}">
                  <a16:creationId xmlns:a16="http://schemas.microsoft.com/office/drawing/2014/main" id="{E304A2E6-18F7-46E4-9E04-3BC7CB760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7" name="Freeform 38">
              <a:extLst>
                <a:ext uri="{FF2B5EF4-FFF2-40B4-BE49-F238E27FC236}">
                  <a16:creationId xmlns:a16="http://schemas.microsoft.com/office/drawing/2014/main" id="{9C72B715-DEA5-4B4E-B501-AB464DED7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8" name="Freeform 39">
              <a:extLst>
                <a:ext uri="{FF2B5EF4-FFF2-40B4-BE49-F238E27FC236}">
                  <a16:creationId xmlns:a16="http://schemas.microsoft.com/office/drawing/2014/main" id="{2437C95C-AE26-46C4-B31F-8AB902D46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9" name="Freeform 40">
              <a:extLst>
                <a:ext uri="{FF2B5EF4-FFF2-40B4-BE49-F238E27FC236}">
                  <a16:creationId xmlns:a16="http://schemas.microsoft.com/office/drawing/2014/main" id="{BBA27273-38F8-4A36-B028-A32478B6C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0" name="Freeform 41">
              <a:extLst>
                <a:ext uri="{FF2B5EF4-FFF2-40B4-BE49-F238E27FC236}">
                  <a16:creationId xmlns:a16="http://schemas.microsoft.com/office/drawing/2014/main" id="{E51A07CA-2C97-4B89-8C8F-FDA4C9CD0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1" name="Freeform 42">
              <a:extLst>
                <a:ext uri="{FF2B5EF4-FFF2-40B4-BE49-F238E27FC236}">
                  <a16:creationId xmlns:a16="http://schemas.microsoft.com/office/drawing/2014/main" id="{EE5FA2D7-5F6C-4D04-9AC4-F3396C956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2" name="Freeform 43">
              <a:extLst>
                <a:ext uri="{FF2B5EF4-FFF2-40B4-BE49-F238E27FC236}">
                  <a16:creationId xmlns:a16="http://schemas.microsoft.com/office/drawing/2014/main" id="{520D88A1-74EF-4BEF-AA1E-F326A663D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3" name="Freeform 44">
              <a:extLst>
                <a:ext uri="{FF2B5EF4-FFF2-40B4-BE49-F238E27FC236}">
                  <a16:creationId xmlns:a16="http://schemas.microsoft.com/office/drawing/2014/main" id="{1EA8D0F6-A8B5-4DA9-BE93-BF469E1DD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4" name="Rectangle 45">
              <a:extLst>
                <a:ext uri="{FF2B5EF4-FFF2-40B4-BE49-F238E27FC236}">
                  <a16:creationId xmlns:a16="http://schemas.microsoft.com/office/drawing/2014/main" id="{901DDDC8-E72F-42BE-AA19-1EF49F7C3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75" name="Freeform 46">
              <a:extLst>
                <a:ext uri="{FF2B5EF4-FFF2-40B4-BE49-F238E27FC236}">
                  <a16:creationId xmlns:a16="http://schemas.microsoft.com/office/drawing/2014/main" id="{B7F08799-84CC-4FEA-BA09-9433D6F8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6" name="Freeform 47">
              <a:extLst>
                <a:ext uri="{FF2B5EF4-FFF2-40B4-BE49-F238E27FC236}">
                  <a16:creationId xmlns:a16="http://schemas.microsoft.com/office/drawing/2014/main" id="{79BFE384-A6F5-453B-9EF3-5AED3651E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7" name="Freeform 48">
              <a:extLst>
                <a:ext uri="{FF2B5EF4-FFF2-40B4-BE49-F238E27FC236}">
                  <a16:creationId xmlns:a16="http://schemas.microsoft.com/office/drawing/2014/main" id="{0DFA5601-E0AD-4408-88DA-E4EC88C3E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8" name="Freeform 49">
              <a:extLst>
                <a:ext uri="{FF2B5EF4-FFF2-40B4-BE49-F238E27FC236}">
                  <a16:creationId xmlns:a16="http://schemas.microsoft.com/office/drawing/2014/main" id="{56D418E4-5A45-4E6E-933E-FB1CE91AD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9" name="Freeform 50">
              <a:extLst>
                <a:ext uri="{FF2B5EF4-FFF2-40B4-BE49-F238E27FC236}">
                  <a16:creationId xmlns:a16="http://schemas.microsoft.com/office/drawing/2014/main" id="{5C69D665-56A6-4A37-AD1F-99694ECE6A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0" name="Freeform 51">
              <a:extLst>
                <a:ext uri="{FF2B5EF4-FFF2-40B4-BE49-F238E27FC236}">
                  <a16:creationId xmlns:a16="http://schemas.microsoft.com/office/drawing/2014/main" id="{63233125-FD9D-4C9E-A6BE-A980F6D0D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1" name="Freeform 52">
              <a:extLst>
                <a:ext uri="{FF2B5EF4-FFF2-40B4-BE49-F238E27FC236}">
                  <a16:creationId xmlns:a16="http://schemas.microsoft.com/office/drawing/2014/main" id="{306D92BE-D0C9-4E40-A670-395526119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2" name="Freeform 53">
              <a:extLst>
                <a:ext uri="{FF2B5EF4-FFF2-40B4-BE49-F238E27FC236}">
                  <a16:creationId xmlns:a16="http://schemas.microsoft.com/office/drawing/2014/main" id="{EAEF90F1-3367-4F79-9D5A-6C553F260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3" name="Freeform 54">
              <a:extLst>
                <a:ext uri="{FF2B5EF4-FFF2-40B4-BE49-F238E27FC236}">
                  <a16:creationId xmlns:a16="http://schemas.microsoft.com/office/drawing/2014/main" id="{D6A83746-02ED-4DC5-AEFC-893A1D1FC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4" name="Freeform 55">
              <a:extLst>
                <a:ext uri="{FF2B5EF4-FFF2-40B4-BE49-F238E27FC236}">
                  <a16:creationId xmlns:a16="http://schemas.microsoft.com/office/drawing/2014/main" id="{870B08E6-DF62-467D-939C-3F1F98E6E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5" name="Freeform 56">
              <a:extLst>
                <a:ext uri="{FF2B5EF4-FFF2-40B4-BE49-F238E27FC236}">
                  <a16:creationId xmlns:a16="http://schemas.microsoft.com/office/drawing/2014/main" id="{E62C43E8-6EED-4775-A812-B307C3BB6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6" name="Freeform 57">
              <a:extLst>
                <a:ext uri="{FF2B5EF4-FFF2-40B4-BE49-F238E27FC236}">
                  <a16:creationId xmlns:a16="http://schemas.microsoft.com/office/drawing/2014/main" id="{DCA412B6-54EC-4444-8B8A-9D572B08B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7" name="Freeform 58">
              <a:extLst>
                <a:ext uri="{FF2B5EF4-FFF2-40B4-BE49-F238E27FC236}">
                  <a16:creationId xmlns:a16="http://schemas.microsoft.com/office/drawing/2014/main" id="{7322FB00-608C-46A7-868E-01A55C600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06D9D-074F-48F4-AB3C-8C536866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024" y="1434306"/>
            <a:ext cx="982186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Model Training Results</a:t>
            </a:r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8DE5EA2-C86F-45CC-A9F1-5100DE1D1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rgbClr val="FFFFFF">
              <a:alpha val="10000"/>
            </a:srgbClr>
          </a:solidFill>
        </p:grpSpPr>
        <p:sp>
          <p:nvSpPr>
            <p:cNvPr id="390" name="Freeform 32">
              <a:extLst>
                <a:ext uri="{FF2B5EF4-FFF2-40B4-BE49-F238E27FC236}">
                  <a16:creationId xmlns:a16="http://schemas.microsoft.com/office/drawing/2014/main" id="{9AA01EC3-108D-4DFC-A750-19ACE71FB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1" name="Freeform 33">
              <a:extLst>
                <a:ext uri="{FF2B5EF4-FFF2-40B4-BE49-F238E27FC236}">
                  <a16:creationId xmlns:a16="http://schemas.microsoft.com/office/drawing/2014/main" id="{A9FCB53A-15A0-47CE-BF67-ADA8B12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2" name="Freeform 34">
              <a:extLst>
                <a:ext uri="{FF2B5EF4-FFF2-40B4-BE49-F238E27FC236}">
                  <a16:creationId xmlns:a16="http://schemas.microsoft.com/office/drawing/2014/main" id="{013DEB80-2F33-454E-ADF4-E250AC4C5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3" name="Freeform 35">
              <a:extLst>
                <a:ext uri="{FF2B5EF4-FFF2-40B4-BE49-F238E27FC236}">
                  <a16:creationId xmlns:a16="http://schemas.microsoft.com/office/drawing/2014/main" id="{7C0608D2-DD43-44FB-9427-8D47F35F9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4" name="Freeform 36">
              <a:extLst>
                <a:ext uri="{FF2B5EF4-FFF2-40B4-BE49-F238E27FC236}">
                  <a16:creationId xmlns:a16="http://schemas.microsoft.com/office/drawing/2014/main" id="{F55DAF32-BF45-427E-8640-FF28881DE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5" name="Freeform 37">
              <a:extLst>
                <a:ext uri="{FF2B5EF4-FFF2-40B4-BE49-F238E27FC236}">
                  <a16:creationId xmlns:a16="http://schemas.microsoft.com/office/drawing/2014/main" id="{B45620ED-F9C5-455B-A9CC-B55AA19B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6" name="Freeform 38">
              <a:extLst>
                <a:ext uri="{FF2B5EF4-FFF2-40B4-BE49-F238E27FC236}">
                  <a16:creationId xmlns:a16="http://schemas.microsoft.com/office/drawing/2014/main" id="{541EBFC0-CD4B-4ED6-91D7-907517148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7" name="Freeform 39">
              <a:extLst>
                <a:ext uri="{FF2B5EF4-FFF2-40B4-BE49-F238E27FC236}">
                  <a16:creationId xmlns:a16="http://schemas.microsoft.com/office/drawing/2014/main" id="{340715CE-35AB-48B6-9AEA-55C593A93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8" name="Freeform 40">
              <a:extLst>
                <a:ext uri="{FF2B5EF4-FFF2-40B4-BE49-F238E27FC236}">
                  <a16:creationId xmlns:a16="http://schemas.microsoft.com/office/drawing/2014/main" id="{D7D01A1B-E910-4A37-82C3-2E0FC595E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9" name="Rectangle 41">
              <a:extLst>
                <a:ext uri="{FF2B5EF4-FFF2-40B4-BE49-F238E27FC236}">
                  <a16:creationId xmlns:a16="http://schemas.microsoft.com/office/drawing/2014/main" id="{8663205C-5E32-4C7F-920B-270F738A1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94679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E081-DA1E-4F70-94E1-10DAE0E2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Squared(RMSE)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E160-61A7-436F-8E56-30067F8BC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RMSE: 0.7854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The Root mean Squared Error of the model is 0.7854 which means that the predicted ratings is within +/- 0.7854 of the actual rating for our 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224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8A1F-BBCE-4C9C-BB24-ED539D6A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-102675"/>
            <a:ext cx="9905998" cy="1478570"/>
          </a:xfrm>
        </p:spPr>
        <p:txBody>
          <a:bodyPr/>
          <a:lstStyle/>
          <a:p>
            <a:r>
              <a:rPr lang="en-CA" b="1" i="0" dirty="0">
                <a:solidFill>
                  <a:srgbClr val="000000"/>
                </a:solidFill>
                <a:effectLst/>
                <a:latin typeface="Helvetica Neue"/>
              </a:rPr>
              <a:t>comparing predicted vs actual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A53D8-613C-4718-B5B7-DC4B46259DE6}"/>
              </a:ext>
            </a:extLst>
          </p:cNvPr>
          <p:cNvSpPr txBox="1"/>
          <p:nvPr/>
        </p:nvSpPr>
        <p:spPr>
          <a:xfrm>
            <a:off x="1141415" y="4870458"/>
            <a:ext cx="99059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Helvetica Neue"/>
              </a:rPr>
              <a:t>The predicted and actual rating for the users follows a similar patter but not exactly the same value for some movies</a:t>
            </a:r>
          </a:p>
          <a:p>
            <a:pPr algn="l"/>
            <a:endParaRPr lang="en-US" sz="1600" b="0" i="0" dirty="0"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Helvetica Neue"/>
              </a:rPr>
              <a:t>This can be explained by the RMSE of 0.7854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 Neue"/>
              </a:rPr>
              <a:t>O</a:t>
            </a:r>
            <a:r>
              <a:rPr lang="en-US" sz="1600" b="0" i="0" dirty="0">
                <a:effectLst/>
                <a:latin typeface="Helvetica Neue"/>
              </a:rPr>
              <a:t>ur predicted ratings are anywhere between +/-0.78 of the actual rating due to which we can see that predicted rating follows similar pattern to actual but does not exactly match it.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D9DD1C-71A0-4396-9EC5-E57453BAC348}"/>
              </a:ext>
            </a:extLst>
          </p:cNvPr>
          <p:cNvGrpSpPr/>
          <p:nvPr/>
        </p:nvGrpSpPr>
        <p:grpSpPr>
          <a:xfrm>
            <a:off x="764709" y="1109457"/>
            <a:ext cx="4757191" cy="3581289"/>
            <a:chOff x="764709" y="1109457"/>
            <a:chExt cx="4757191" cy="358128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16ABF908-9458-4F10-A44A-AC3B8EF62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709" y="1375895"/>
              <a:ext cx="4757191" cy="3314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6FB841-8C54-43F0-AFD5-BC38F6E03EF8}"/>
                </a:ext>
              </a:extLst>
            </p:cNvPr>
            <p:cNvSpPr txBox="1"/>
            <p:nvPr/>
          </p:nvSpPr>
          <p:spPr>
            <a:xfrm>
              <a:off x="1960865" y="1109457"/>
              <a:ext cx="3196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 1 Predicted vs Actual</a:t>
              </a:r>
              <a:endParaRPr lang="en-CA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E8927EC-7416-4E10-9048-397ACE6BB2F0}"/>
              </a:ext>
            </a:extLst>
          </p:cNvPr>
          <p:cNvGrpSpPr/>
          <p:nvPr/>
        </p:nvGrpSpPr>
        <p:grpSpPr>
          <a:xfrm>
            <a:off x="6018911" y="1090047"/>
            <a:ext cx="4757192" cy="3514823"/>
            <a:chOff x="6018911" y="1090047"/>
            <a:chExt cx="4757192" cy="3514823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601A56CF-8E69-46F5-8BC3-F2566D669E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8911" y="1375895"/>
              <a:ext cx="4757192" cy="322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DF4243-B34A-4375-9AB5-422875170EB7}"/>
                </a:ext>
              </a:extLst>
            </p:cNvPr>
            <p:cNvSpPr txBox="1"/>
            <p:nvPr/>
          </p:nvSpPr>
          <p:spPr>
            <a:xfrm>
              <a:off x="7245329" y="1090047"/>
              <a:ext cx="3196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 10 Predicted vs Actual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63399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C85A-613D-4B60-B485-A039C772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Deployment</a:t>
            </a:r>
            <a:endParaRPr lang="en-CA" dirty="0"/>
          </a:p>
        </p:txBody>
      </p:sp>
      <p:pic>
        <p:nvPicPr>
          <p:cNvPr id="7" name="Graphic 6" descr="Download">
            <a:extLst>
              <a:ext uri="{FF2B5EF4-FFF2-40B4-BE49-F238E27FC236}">
                <a16:creationId xmlns:a16="http://schemas.microsoft.com/office/drawing/2014/main" id="{8248963E-CC29-439F-A06C-B960F6B61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411" y="2277013"/>
            <a:ext cx="3494597" cy="34945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394F0-848F-4B44-B80B-94608DDE5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79" y="2249487"/>
            <a:ext cx="6012832" cy="3541714"/>
          </a:xfrm>
        </p:spPr>
        <p:txBody>
          <a:bodyPr>
            <a:normAutofit/>
          </a:bodyPr>
          <a:lstStyle/>
          <a:p>
            <a:r>
              <a:rPr lang="en-US" dirty="0"/>
              <a:t>While I was not able to make a proper GUI for the recommender system, I did create a simple application where you can input the name of a movie and it will give you top 5 </a:t>
            </a:r>
            <a:r>
              <a:rPr lang="en-US"/>
              <a:t>similar movies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6011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282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Helvetica Neue</vt:lpstr>
      <vt:lpstr>Tw Cen MT</vt:lpstr>
      <vt:lpstr>Circuit</vt:lpstr>
      <vt:lpstr>Movie Recommendation System</vt:lpstr>
      <vt:lpstr>EDA - Summary</vt:lpstr>
      <vt:lpstr>Movielens 25M dataset - EDA</vt:lpstr>
      <vt:lpstr>SVD - Singular Value Decomposition</vt:lpstr>
      <vt:lpstr>Collaborative Filtering</vt:lpstr>
      <vt:lpstr>SVD – Singular Value Decomposition</vt:lpstr>
      <vt:lpstr>SVD – Singular Value Decomposition</vt:lpstr>
      <vt:lpstr>Model Training Results</vt:lpstr>
      <vt:lpstr>Root mean Squared(RMSE)</vt:lpstr>
      <vt:lpstr>comparing predicted vs actual</vt:lpstr>
      <vt:lpstr>Deployment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</dc:title>
  <dc:creator>Muhammad Ali</dc:creator>
  <cp:lastModifiedBy>Muhammad Ali</cp:lastModifiedBy>
  <cp:revision>3</cp:revision>
  <dcterms:created xsi:type="dcterms:W3CDTF">2020-12-18T15:45:46Z</dcterms:created>
  <dcterms:modified xsi:type="dcterms:W3CDTF">2020-12-19T04:51:09Z</dcterms:modified>
</cp:coreProperties>
</file>